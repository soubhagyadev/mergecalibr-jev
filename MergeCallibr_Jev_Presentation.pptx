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64592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81F7"/>
                </a:solidFill>
                <a:latin typeface="Arial"/>
              </a:defRPr>
            </a:pPr>
            <a:r>
              <a:t>GitHub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914400"/>
            <a:ext cx="210312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81F7"/>
                </a:solidFill>
                <a:latin typeface="Arial"/>
              </a:defRPr>
            </a:pPr>
            <a:r>
              <a:t>DeepSeek V4.1 Flash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914400"/>
            <a:ext cx="164592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81F7"/>
                </a:solidFill>
                <a:latin typeface="Arial"/>
              </a:defRPr>
            </a:pPr>
            <a:r>
              <a:t>TypeSafe Jev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914400"/>
            <a:ext cx="1645920" cy="365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81F7"/>
                </a:solidFill>
                <a:latin typeface="Arial"/>
              </a:defRPr>
            </a:pPr>
            <a:r>
              <a:t>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0F6FC"/>
                </a:solidFill>
                <a:latin typeface="Trebuchet MS"/>
              </a:defRPr>
            </a:pPr>
            <a:r>
              <a:t>MergeCallibr-Jev</a:t>
            </a:r>
          </a:p>
          <a:p>
            <a:pPr>
              <a:spcBef>
                <a:spcPts val="800"/>
              </a:spcBef>
              <a:defRPr sz="2200" b="1">
                <a:solidFill>
                  <a:srgbClr val="2F81F7"/>
                </a:solidFill>
                <a:latin typeface="Trebuchet MS"/>
              </a:defRPr>
            </a:pPr>
            <a:r>
              <a:t>Intelligent Pull Request Triage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1200" b="1">
                <a:solidFill>
                  <a:srgbClr val="A371F7"/>
                </a:solidFill>
                <a:latin typeface="Arial"/>
              </a:defRPr>
            </a:pPr>
            <a:r>
              <a:t>CORE MISSION</a:t>
            </a:r>
          </a:p>
          <a:p>
            <a:pPr>
              <a:spcBef>
                <a:spcPts val="600"/>
              </a:spcBef>
              <a:defRPr sz="1800">
                <a:solidFill>
                  <a:srgbClr val="F0F6FC"/>
                </a:solidFill>
                <a:latin typeface="Arial"/>
              </a:defRPr>
            </a:pPr>
            <a:r>
              <a:t>Reducing unnecessary human effort in code review through AI-assisted understanding and probabilistic decision 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33832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1. Understand the Code</a:t>
            </a:r>
          </a:p>
          <a:p>
            <a:pPr>
              <a:spcBef>
                <a:spcPts val="600"/>
              </a:spcBef>
              <a:defRPr sz="1300">
                <a:solidFill>
                  <a:srgbClr val="8B949E"/>
                </a:solidFill>
                <a:latin typeface="Arial"/>
              </a:defRPr>
            </a:pPr>
            <a:r>
              <a:t>DeepSeek V4.1 Flash analyzes diffs &amp; repository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63440"/>
            <a:ext cx="33832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2. Evaluate the Risk</a:t>
            </a:r>
          </a:p>
          <a:p>
            <a:pPr>
              <a:spcBef>
                <a:spcPts val="600"/>
              </a:spcBef>
              <a:defRPr sz="1300">
                <a:solidFill>
                  <a:srgbClr val="8B949E"/>
                </a:solidFill>
                <a:latin typeface="Arial"/>
              </a:defRPr>
            </a:pPr>
            <a:r>
              <a:t>TypeSafe Jev calculates typed probabilistic risk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663440"/>
            <a:ext cx="33832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3. Route Appropriately</a:t>
            </a:r>
          </a:p>
          <a:p>
            <a:pPr>
              <a:spcBef>
                <a:spcPts val="600"/>
              </a:spcBef>
              <a:defRPr sz="1300">
                <a:solidFill>
                  <a:srgbClr val="8B949E"/>
                </a:solidFill>
                <a:latin typeface="Arial"/>
              </a:defRPr>
            </a:pPr>
            <a:r>
              <a:t>Automatic triage passes low risk &amp; flags high risk PRs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F81F7"/>
                </a:solidFill>
                <a:latin typeface="Arial"/>
              </a:defRPr>
            </a:pPr>
            <a:r>
              <a:t>SLIDE 2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0F6FC"/>
                </a:solidFill>
                <a:latin typeface="Trebuchet MS"/>
              </a:defRPr>
            </a:pPr>
            <a:r>
              <a:t>AI Code Generation Bottlenecks Human Review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2024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6FC"/>
                </a:solidFill>
                <a:latin typeface="Arial"/>
              </a:defRPr>
            </a:pPr>
            <a:r>
              <a:t>More AI-Generated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92024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6FC"/>
                </a:solidFill>
                <a:latin typeface="Arial"/>
              </a:defRPr>
            </a:pPr>
            <a:r>
              <a:t>More Pull Requests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192024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6FC"/>
                </a:solidFill>
                <a:latin typeface="Arial"/>
              </a:defRPr>
            </a:pPr>
            <a:r>
              <a:t>More Code to Understand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192024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F6FC"/>
                </a:solidFill>
                <a:latin typeface="Arial"/>
              </a:defRPr>
            </a:pPr>
            <a:r>
              <a:t>More Human Review Time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1920240" cy="731520"/>
          </a:xfrm>
          <a:prstGeom prst="roundRect">
            <a:avLst/>
          </a:prstGeom>
          <a:solidFill>
            <a:srgbClr val="3D1E24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5149"/>
                </a:solidFill>
                <a:latin typeface="Arial"/>
              </a:defRPr>
            </a:pPr>
            <a:r>
              <a:t>Development Bottleneck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51760"/>
            <a:ext cx="3383280" cy="3291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F85149"/>
                </a:solidFill>
                <a:latin typeface="Arial"/>
              </a:defRPr>
            </a:pPr>
            <a:r>
              <a:t>PROBLEM 01</a:t>
            </a:r>
          </a:p>
          <a:p>
            <a:pPr>
              <a:spcBef>
                <a:spcPts val="600"/>
              </a:spcBef>
              <a:defRPr sz="2000" b="1">
                <a:solidFill>
                  <a:srgbClr val="F0F6FC"/>
                </a:solidFill>
                <a:latin typeface="Trebuchet MS"/>
              </a:defRPr>
            </a:pPr>
            <a:r>
              <a:t>High Review Effort</a:t>
            </a:r>
          </a:p>
          <a:p>
            <a:pPr>
              <a:spcBef>
                <a:spcPts val="200"/>
              </a:spcBef>
              <a:defRPr sz="1200" b="1">
                <a:solidFill>
                  <a:srgbClr val="8B949E"/>
                </a:solidFill>
                <a:latin typeface="Arial"/>
              </a:defRPr>
            </a:pPr>
            <a:r>
              <a:t>Time-Consuming Assessment</a:t>
            </a:r>
          </a:p>
          <a:p>
            <a:pPr>
              <a:spcBef>
                <a:spcPts val="1200"/>
              </a:spcBef>
              <a:defRPr sz="1400">
                <a:solidFill>
                  <a:srgbClr val="F0F6FC"/>
                </a:solidFill>
                <a:latin typeface="Arial"/>
              </a:defRPr>
            </a:pPr>
            <a:r>
              <a:t>Developers spend significant time comprehending changes before deciding whether they are safe to merge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651760"/>
            <a:ext cx="3383280" cy="3291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F85149"/>
                </a:solidFill>
                <a:latin typeface="Arial"/>
              </a:defRPr>
            </a:pPr>
            <a:r>
              <a:t>PROBLEM 02</a:t>
            </a:r>
          </a:p>
          <a:p>
            <a:pPr>
              <a:spcBef>
                <a:spcPts val="600"/>
              </a:spcBef>
              <a:defRPr sz="2000" b="1">
                <a:solidFill>
                  <a:srgbClr val="F0F6FC"/>
                </a:solidFill>
                <a:latin typeface="Trebuchet MS"/>
              </a:defRPr>
            </a:pPr>
            <a:r>
              <a:t>Reviewer Fatigue</a:t>
            </a:r>
          </a:p>
          <a:p>
            <a:pPr>
              <a:spcBef>
                <a:spcPts val="200"/>
              </a:spcBef>
              <a:defRPr sz="1200" b="1">
                <a:solidFill>
                  <a:srgbClr val="8B949E"/>
                </a:solidFill>
                <a:latin typeface="Arial"/>
              </a:defRPr>
            </a:pPr>
            <a:r>
              <a:t>Cognitive Exhaustion</a:t>
            </a:r>
          </a:p>
          <a:p>
            <a:pPr>
              <a:spcBef>
                <a:spcPts val="1200"/>
              </a:spcBef>
              <a:defRPr sz="1400">
                <a:solidFill>
                  <a:srgbClr val="F0F6FC"/>
                </a:solidFill>
                <a:latin typeface="Arial"/>
              </a:defRPr>
            </a:pPr>
            <a:r>
              <a:t>Large or complex PRs require substantial cognitive effort, increasing error rates and review friction across engineering teams.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51760"/>
            <a:ext cx="3383280" cy="3291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F85149"/>
                </a:solidFill>
                <a:latin typeface="Arial"/>
              </a:defRPr>
            </a:pPr>
            <a:r>
              <a:t>PROBLEM 03</a:t>
            </a:r>
          </a:p>
          <a:p>
            <a:pPr>
              <a:spcBef>
                <a:spcPts val="600"/>
              </a:spcBef>
              <a:defRPr sz="2000" b="1">
                <a:solidFill>
                  <a:srgbClr val="F0F6FC"/>
                </a:solidFill>
                <a:latin typeface="Trebuchet MS"/>
              </a:defRPr>
            </a:pPr>
            <a:r>
              <a:t>Unnecessary Scrutiny</a:t>
            </a:r>
          </a:p>
          <a:p>
            <a:pPr>
              <a:spcBef>
                <a:spcPts val="200"/>
              </a:spcBef>
              <a:defRPr sz="1200" b="1">
                <a:solidFill>
                  <a:srgbClr val="8B949E"/>
                </a:solidFill>
                <a:latin typeface="Arial"/>
              </a:defRPr>
            </a:pPr>
            <a:r>
              <a:t>Misallocated Attention</a:t>
            </a:r>
          </a:p>
          <a:p>
            <a:pPr>
              <a:spcBef>
                <a:spcPts val="1200"/>
              </a:spcBef>
              <a:defRPr sz="1400">
                <a:solidFill>
                  <a:srgbClr val="F0F6FC"/>
                </a:solidFill>
                <a:latin typeface="Arial"/>
              </a:defRPr>
            </a:pPr>
            <a:r>
              <a:t>Low-risk routine changes receive the same initial scrutiny as high-risk, critical subsystem alterations, stalling delivery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29922"/>
                </a:solidFill>
                <a:latin typeface="Arial"/>
              </a:defRPr>
            </a:pPr>
            <a:r>
              <a:t>Research Core Framing: Modern AI-assisted development creates a growing verification burden that demands automated risk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F81F7"/>
                </a:solidFill>
                <a:latin typeface="Arial"/>
              </a:defRPr>
            </a:pPr>
            <a:r>
              <a:t>SLIDE 3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0F6FC"/>
                </a:solidFill>
                <a:latin typeface="Trebuchet MS"/>
              </a:defRPr>
            </a:pPr>
            <a:r>
              <a:t>MergeCallibr-Jev Dynamically Assesses &amp; Routes Pull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0F6FC"/>
                </a:solidFill>
                <a:latin typeface="Arial"/>
              </a:defRPr>
            </a:pPr>
            <a:r>
              <a:t>An intelligent PR analysis system that determines how much human attention a Pull Request actually requires.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1. GitHub Repository</a:t>
            </a:r>
          </a:p>
          <a:p>
            <a:pPr>
              <a:spcBef>
                <a:spcPts val="2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Selects pull request diffs &amp; metadata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00400" y="2788920"/>
            <a:ext cx="274320" cy="182880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2. DeepSeek V4.1 Flash</a:t>
            </a:r>
          </a:p>
          <a:p>
            <a:pPr>
              <a:spcBef>
                <a:spcPts val="2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Reads relevant codebase context &amp; file changes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00400" y="3840480"/>
            <a:ext cx="274320" cy="182880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3. TypeSafe Jev Engine</a:t>
            </a:r>
          </a:p>
          <a:p>
            <a:pPr>
              <a:spcBef>
                <a:spcPts val="2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Executes structured probabilistic decision rules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0400" y="4892040"/>
            <a:ext cx="274320" cy="182880"/>
          </a:xfrm>
          <a:prstGeom prst="down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521208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3FB950"/>
                </a:solidFill>
                <a:latin typeface="Trebuchet MS"/>
              </a:defRPr>
            </a:pPr>
            <a:r>
              <a:t>4. MergeCallibr-Jev</a:t>
            </a:r>
          </a:p>
          <a:p>
            <a:pPr>
              <a:spcBef>
                <a:spcPts val="2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Generates typed verdict &amp; risk confidence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242255" cy="4114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A371F7"/>
                </a:solidFill>
                <a:latin typeface="Arial"/>
              </a:defRPr>
            </a:pPr>
            <a:r>
              <a:t>JEV PROBABILISTIC EVALUATION DIMENSIONS</a:t>
            </a:r>
          </a:p>
          <a:p>
            <a:pPr>
              <a:spcBef>
                <a:spcPts val="400"/>
              </a:spcBef>
              <a:defRPr sz="1300">
                <a:solidFill>
                  <a:srgbClr val="8B949E"/>
                </a:solidFill>
                <a:latin typeface="Arial"/>
              </a:defRPr>
            </a:pPr>
            <a:r>
              <a:t>Jev continuously evaluates structured questions across 5 core risk vectors:</a:t>
            </a:r>
          </a:p>
          <a:p>
            <a:pPr>
              <a:spcBef>
                <a:spcPts val="800"/>
              </a:spcBef>
              <a:defRPr sz="1300" b="1">
                <a:solidFill>
                  <a:srgbClr val="2F81F7"/>
                </a:solidFill>
                <a:latin typeface="Arial"/>
              </a:defRPr>
            </a:pPr>
            <a:r>
              <a:t>• Security Risk: </a:t>
            </a:r>
            <a:r>
              <a:rPr sz="1300" b="0">
                <a:solidFill>
                  <a:srgbClr val="F0F6FC"/>
                </a:solidFill>
                <a:latin typeface="Arial"/>
              </a:rPr>
              <a:t>Detects vulnerabilities, credential exposure &amp; auth changes</a:t>
            </a:r>
          </a:p>
          <a:p>
            <a:pPr>
              <a:spcBef>
                <a:spcPts val="800"/>
              </a:spcBef>
              <a:defRPr sz="1300" b="1">
                <a:solidFill>
                  <a:srgbClr val="2F81F7"/>
                </a:solidFill>
                <a:latin typeface="Arial"/>
              </a:defRPr>
            </a:pPr>
            <a:r>
              <a:t>• Regression Risk: </a:t>
            </a:r>
            <a:r>
              <a:rPr sz="1300" b="0">
                <a:solidFill>
                  <a:srgbClr val="F0F6FC"/>
                </a:solidFill>
                <a:latin typeface="Arial"/>
              </a:rPr>
              <a:t>Evaluates likelihood of breaking existing test suites &amp; logic</a:t>
            </a:r>
          </a:p>
          <a:p>
            <a:pPr>
              <a:spcBef>
                <a:spcPts val="800"/>
              </a:spcBef>
              <a:defRPr sz="1300" b="1">
                <a:solidFill>
                  <a:srgbClr val="2F81F7"/>
                </a:solidFill>
                <a:latin typeface="Arial"/>
              </a:defRPr>
            </a:pPr>
            <a:r>
              <a:t>• Breaking Change Risk: </a:t>
            </a:r>
            <a:r>
              <a:rPr sz="1300" b="0">
                <a:solidFill>
                  <a:srgbClr val="F0F6FC"/>
                </a:solidFill>
                <a:latin typeface="Arial"/>
              </a:rPr>
              <a:t>Flags API contract edits &amp; schema backward incompatibility</a:t>
            </a:r>
          </a:p>
          <a:p>
            <a:pPr>
              <a:spcBef>
                <a:spcPts val="800"/>
              </a:spcBef>
              <a:defRPr sz="1300" b="1">
                <a:solidFill>
                  <a:srgbClr val="2F81F7"/>
                </a:solidFill>
                <a:latin typeface="Arial"/>
              </a:defRPr>
            </a:pPr>
            <a:r>
              <a:t>• Architectural Complexity: </a:t>
            </a:r>
            <a:r>
              <a:rPr sz="1300" b="0">
                <a:solidFill>
                  <a:srgbClr val="F0F6FC"/>
                </a:solidFill>
                <a:latin typeface="Arial"/>
              </a:rPr>
              <a:t>Measures refactoring depth, file count &amp; coupling</a:t>
            </a:r>
          </a:p>
          <a:p>
            <a:pPr>
              <a:spcBef>
                <a:spcPts val="800"/>
              </a:spcBef>
              <a:defRPr sz="1300" b="1">
                <a:solidFill>
                  <a:srgbClr val="2F81F7"/>
                </a:solidFill>
                <a:latin typeface="Arial"/>
              </a:defRPr>
            </a:pPr>
            <a:r>
              <a:t>• Affected Subsystem: </a:t>
            </a:r>
            <a:r>
              <a:rPr sz="1300" b="0">
                <a:solidFill>
                  <a:srgbClr val="F0F6FC"/>
                </a:solidFill>
                <a:latin typeface="Arial"/>
              </a:rPr>
              <a:t>Identifies core vs. peripheral component boundaries</a:t>
            </a:r>
          </a:p>
          <a:p>
            <a:pPr>
              <a:spcBef>
                <a:spcPts val="1400"/>
              </a:spcBef>
              <a:defRPr sz="1200" b="1">
                <a:solidFill>
                  <a:srgbClr val="3FB950"/>
                </a:solidFill>
                <a:latin typeface="Arial"/>
              </a:defRPr>
            </a:pPr>
            <a:r>
              <a:t>Key Architectural Feature: Jev is strictly engineered to return typed decisions and probability scores rather than free-form text explanations.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F81F7"/>
                </a:solidFill>
                <a:latin typeface="Arial"/>
              </a:defRPr>
            </a:pPr>
            <a:r>
              <a:t>SLIDE 4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0F6FC"/>
                </a:solidFill>
                <a:latin typeface="Trebuchet MS"/>
              </a:defRPr>
            </a:pPr>
            <a:r>
              <a:t>AI Understands. Jev Decides. MergeCallibr-Jev 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7744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F81F7"/>
                </a:solidFill>
                <a:latin typeface="Trebuchet MS"/>
              </a:defRPr>
            </a:pPr>
            <a:r>
              <a:t>1. PULL REQUEST</a:t>
            </a:r>
          </a:p>
          <a:p>
            <a:pPr algn="ctr">
              <a:defRPr sz="1100">
                <a:solidFill>
                  <a:srgbClr val="8B949E"/>
                </a:solidFill>
                <a:latin typeface="Arial"/>
              </a:defRPr>
            </a:pPr>
            <a:r>
              <a:t>Code diffs &amp; metadata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37744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F81F7"/>
                </a:solidFill>
                <a:latin typeface="Trebuchet MS"/>
              </a:defRPr>
            </a:pPr>
            <a:r>
              <a:t>2. DeepSeek Flash</a:t>
            </a:r>
          </a:p>
          <a:p>
            <a:pPr algn="ctr">
              <a:defRPr sz="1100">
                <a:solidFill>
                  <a:srgbClr val="8B949E"/>
                </a:solidFill>
                <a:latin typeface="Arial"/>
              </a:defRPr>
            </a:pPr>
            <a:r>
              <a:t>Context understanding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0644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2377440" cy="9144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371F7"/>
                </a:solidFill>
                <a:latin typeface="Trebuchet MS"/>
              </a:defRPr>
            </a:pPr>
            <a:r>
              <a:t>3. TypeSafe JEV</a:t>
            </a:r>
          </a:p>
          <a:p>
            <a:pPr algn="ctr">
              <a:defRPr sz="1100">
                <a:solidFill>
                  <a:srgbClr val="8B949E"/>
                </a:solidFill>
                <a:latin typeface="Arial"/>
              </a:defRPr>
            </a:pPr>
            <a:r>
              <a:t>Risk &amp; probability engine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58200" y="1874520"/>
            <a:ext cx="182880" cy="274320"/>
          </a:xfrm>
          <a:prstGeom prst="rightArrow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1554480"/>
            <a:ext cx="237744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F81F7"/>
                </a:solidFill>
                <a:latin typeface="Trebuchet MS"/>
              </a:defRPr>
            </a:pPr>
            <a:r>
              <a:t>4. Deterministic Logic</a:t>
            </a:r>
          </a:p>
          <a:p>
            <a:pPr algn="ctr">
              <a:defRPr sz="1100">
                <a:solidFill>
                  <a:srgbClr val="8B949E"/>
                </a:solidFill>
                <a:latin typeface="Arial"/>
              </a:defRPr>
            </a:pPr>
            <a:r>
              <a:t>Automated verdict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1208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3FB950"/>
                </a:solidFill>
                <a:latin typeface="Arial"/>
              </a:defRPr>
            </a:pPr>
            <a:r>
              <a:t>VERDICT EXAMPLE 1: LOW RISK</a:t>
            </a:r>
          </a:p>
          <a:p>
            <a:pPr>
              <a:spcBef>
                <a:spcPts val="400"/>
              </a:spcBef>
              <a:defRPr sz="2000" b="1">
                <a:solidFill>
                  <a:srgbClr val="F0F6FC"/>
                </a:solidFill>
                <a:latin typeface="Trebuchet MS"/>
              </a:defRPr>
            </a:pPr>
            <a:r>
              <a:t>Verdict: No Human Review Required</a:t>
            </a:r>
          </a:p>
          <a:p>
            <a:pPr>
              <a:spcBef>
                <a:spcPts val="800"/>
              </a:spcBef>
              <a:defRPr sz="1200" b="1">
                <a:solidFill>
                  <a:srgbClr val="8B949E"/>
                </a:solidFill>
                <a:latin typeface="Arial"/>
              </a:defRPr>
            </a:pPr>
            <a:r>
              <a:t>Probabilistic Risk Scores: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Security Risk: </a:t>
            </a:r>
            <a:r>
              <a:rPr b="1">
                <a:solidFill>
                  <a:srgbClr val="3FB950"/>
                </a:solidFill>
              </a:rPr>
              <a:t>0.12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Regression Risk: </a:t>
            </a:r>
            <a:r>
              <a:rPr b="1">
                <a:solidFill>
                  <a:srgbClr val="3FB950"/>
                </a:solidFill>
              </a:rPr>
              <a:t>0.18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Confidence: </a:t>
            </a:r>
            <a:r>
              <a:rPr b="1">
                <a:solidFill>
                  <a:srgbClr val="3FB950"/>
                </a:solidFill>
              </a:rPr>
              <a:t>0.93</a:t>
            </a:r>
          </a:p>
          <a:p>
            <a:pPr>
              <a:spcBef>
                <a:spcPts val="10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Routine dependency bump or minor refactor with low impact score. Automatically passed through triage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2743200"/>
            <a:ext cx="5212080" cy="3200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F85149"/>
                </a:solidFill>
                <a:latin typeface="Arial"/>
              </a:defRPr>
            </a:pPr>
            <a:r>
              <a:t>VERDICT EXAMPLE 2: HIGH RISK</a:t>
            </a:r>
          </a:p>
          <a:p>
            <a:pPr>
              <a:spcBef>
                <a:spcPts val="400"/>
              </a:spcBef>
              <a:defRPr sz="2000" b="1">
                <a:solidFill>
                  <a:srgbClr val="F0F6FC"/>
                </a:solidFill>
                <a:latin typeface="Trebuchet MS"/>
              </a:defRPr>
            </a:pPr>
            <a:r>
              <a:t>Verdict: Human Review Required</a:t>
            </a:r>
          </a:p>
          <a:p>
            <a:pPr>
              <a:spcBef>
                <a:spcPts val="800"/>
              </a:spcBef>
              <a:defRPr sz="1200" b="1">
                <a:solidFill>
                  <a:srgbClr val="8B949E"/>
                </a:solidFill>
                <a:latin typeface="Arial"/>
              </a:defRPr>
            </a:pPr>
            <a:r>
              <a:t>Probabilistic Risk Scores: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Security Risk: </a:t>
            </a:r>
            <a:r>
              <a:rPr b="1">
                <a:solidFill>
                  <a:srgbClr val="F85149"/>
                </a:solidFill>
              </a:rPr>
              <a:t>0.88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Confidence: </a:t>
            </a:r>
            <a:r>
              <a:rPr b="1">
                <a:solidFill>
                  <a:srgbClr val="F85149"/>
                </a:solidFill>
              </a:rPr>
              <a:t>0.94</a:t>
            </a:r>
          </a:p>
          <a:p>
            <a:pPr>
              <a:defRPr sz="1300">
                <a:solidFill>
                  <a:srgbClr val="8B949E"/>
                </a:solidFill>
                <a:latin typeface="Arial"/>
              </a:defRPr>
            </a:pPr>
            <a:r>
              <a:t>  • Architectural Risk: </a:t>
            </a:r>
            <a:r>
              <a:rPr b="1">
                <a:solidFill>
                  <a:srgbClr val="F85149"/>
                </a:solidFill>
              </a:rPr>
              <a:t>High</a:t>
            </a:r>
          </a:p>
          <a:p>
            <a:pPr>
              <a:spcBef>
                <a:spcPts val="10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Critical auth middleware edit or database schema migration detected. Escalated immediately to senior code reviewers.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71F7"/>
                </a:solidFill>
                <a:latin typeface="Arial"/>
              </a:defRPr>
            </a:pPr>
            <a:r>
              <a:t>Decision Engine Design: Jev's constrained primitives (Noul, Choice, Score) enable deterministic downstream workflow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F81F7"/>
                </a:solidFill>
                <a:latin typeface="Arial"/>
              </a:defRPr>
            </a:pPr>
            <a:r>
              <a:t>SLIDE 5 — DEVELOPER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0F6FC"/>
                </a:solidFill>
                <a:latin typeface="Trebuchet MS"/>
              </a:defRPr>
            </a:pPr>
            <a:r>
              <a:t>Focusing Human Review Attention Where It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00" b="1">
                <a:solidFill>
                  <a:srgbClr val="F85149"/>
                </a:solidFill>
                <a:latin typeface="Arial"/>
              </a:defRPr>
            </a:pPr>
            <a:r>
              <a:t>BEFORE MERGECALLIBR-JEV</a:t>
            </a:r>
          </a:p>
          <a:p>
            <a:pPr>
              <a:spcBef>
                <a:spcPts val="400"/>
              </a:spcBef>
              <a:defRPr sz="1300">
                <a:solidFill>
                  <a:srgbClr val="F0F6FC"/>
                </a:solidFill>
                <a:latin typeface="Arial"/>
              </a:defRPr>
            </a:pPr>
            <a:r>
              <a:t>Every PR ➔ Human Reviewer ➔ Understand Diff ➔ Assess Risk ➔ Decide Action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• 100% manual review volume creates constant friction &amp; fatigue.</a:t>
            </a:r>
          </a:p>
          <a:p>
            <a:pPr>
              <a:spcBef>
                <a:spcPts val="800"/>
              </a:spcBef>
              <a:defRPr sz="1000">
                <a:solidFill>
                  <a:srgbClr val="30363D"/>
                </a:solidFill>
              </a:defRPr>
            </a:pPr>
            <a:r>
              <a:t>──────────────────────────────────────────────</a:t>
            </a:r>
          </a:p>
          <a:p>
            <a:pPr>
              <a:spcBef>
                <a:spcPts val="800"/>
              </a:spcBef>
              <a:defRPr sz="1200" b="1">
                <a:solidFill>
                  <a:srgbClr val="3FB950"/>
                </a:solidFill>
                <a:latin typeface="Arial"/>
              </a:defRPr>
            </a:pPr>
            <a:r>
              <a:t>WITH MERGECALLIBR-JEV</a:t>
            </a:r>
          </a:p>
          <a:p>
            <a:pPr>
              <a:spcBef>
                <a:spcPts val="400"/>
              </a:spcBef>
              <a:defRPr sz="1300" b="1">
                <a:solidFill>
                  <a:srgbClr val="F0F6FC"/>
                </a:solidFill>
                <a:latin typeface="Arial"/>
              </a:defRPr>
            </a:pPr>
            <a:r>
              <a:t>Every PR ➔ DeepSeek + Jev Triage ➔ Automatic Routing:</a:t>
            </a:r>
          </a:p>
          <a:p>
            <a:pPr>
              <a:spcBef>
                <a:spcPts val="300"/>
              </a:spcBef>
              <a:defRPr sz="1200" b="1">
                <a:solidFill>
                  <a:srgbClr val="3FB950"/>
                </a:solidFill>
                <a:latin typeface="Arial"/>
              </a:defRPr>
            </a:pPr>
            <a:r>
              <a:t>  • Low Risk: </a:t>
            </a:r>
            <a:r>
              <a:rPr b="0">
                <a:solidFill>
                  <a:srgbClr val="F0F6FC"/>
                </a:solidFill>
              </a:rPr>
              <a:t>Minimal human attention / Fast track</a:t>
            </a:r>
          </a:p>
          <a:p>
            <a:pPr>
              <a:spcBef>
                <a:spcPts val="300"/>
              </a:spcBef>
              <a:defRPr sz="1200" b="1">
                <a:solidFill>
                  <a:srgbClr val="D29922"/>
                </a:solidFill>
                <a:latin typeface="Arial"/>
              </a:defRPr>
            </a:pPr>
            <a:r>
              <a:t>  • Uncertain: </a:t>
            </a:r>
            <a:r>
              <a:rPr b="0">
                <a:solidFill>
                  <a:srgbClr val="F0F6FC"/>
                </a:solidFill>
              </a:rPr>
              <a:t>Targeted human review with Jev context</a:t>
            </a:r>
          </a:p>
          <a:p>
            <a:pPr>
              <a:spcBef>
                <a:spcPts val="300"/>
              </a:spcBef>
              <a:defRPr sz="1200" b="1">
                <a:solidFill>
                  <a:srgbClr val="F85149"/>
                </a:solidFill>
                <a:latin typeface="Arial"/>
              </a:defRPr>
            </a:pPr>
            <a:r>
              <a:t>  • High Risk: </a:t>
            </a:r>
            <a:r>
              <a:rPr b="0">
                <a:solidFill>
                  <a:srgbClr val="F0F6FC"/>
                </a:solidFill>
              </a:rPr>
              <a:t>Mandatory senior reviewer escalation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542032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01. Less Unnecessary Effort</a:t>
            </a:r>
          </a:p>
          <a:p>
            <a:pPr>
              <a:spcBef>
                <a:spcPts val="6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Eliminates routine manual inspection for low-risk changes, freeing senior engineers for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554480"/>
            <a:ext cx="2542032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02. Faster PR Triage</a:t>
            </a:r>
          </a:p>
          <a:p>
            <a:pPr>
              <a:spcBef>
                <a:spcPts val="6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Instant probabilistic evaluation dramatically reduces PR queue lead time and speeds deployment velocity.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2542032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03. Consistent Risk Signals</a:t>
            </a:r>
          </a:p>
          <a:p>
            <a:pPr>
              <a:spcBef>
                <a:spcPts val="6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Standardizes code safety assessment using objective, repeatable probabilistic decision frameworks.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4023360"/>
            <a:ext cx="2542032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2F81F7"/>
                </a:solidFill>
                <a:latin typeface="Trebuchet MS"/>
              </a:defRPr>
            </a:pPr>
            <a:r>
              <a:t>04. Clear Reasoning Signals</a:t>
            </a:r>
          </a:p>
          <a:p>
            <a:pPr>
              <a:spcBef>
                <a:spcPts val="600"/>
              </a:spcBef>
              <a:defRPr sz="1200">
                <a:solidFill>
                  <a:srgbClr val="F0F6FC"/>
                </a:solidFill>
                <a:latin typeface="Arial"/>
              </a:defRPr>
            </a:pPr>
            <a:r>
              <a:t>Provides developers and team leads with transparent reasoning and confidence indicators for every PR.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